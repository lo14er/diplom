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0" r:id="rId7"/>
    <p:sldId id="267" r:id="rId8"/>
    <p:sldId id="268" r:id="rId9"/>
    <p:sldId id="256" r:id="rId10"/>
    <p:sldId id="258" r:id="rId11"/>
    <p:sldId id="259" r:id="rId12"/>
    <p:sldId id="270" r:id="rId13"/>
    <p:sldId id="261" r:id="rId14"/>
    <p:sldId id="262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онстантин Фёдоров" userId="112526845455c7e5" providerId="LiveId" clId="{4B8892EE-89F7-40F6-9FB1-62CC4841294C}"/>
    <pc:docChg chg="addSld modSld">
      <pc:chgData name="Константин Фёдоров" userId="112526845455c7e5" providerId="LiveId" clId="{4B8892EE-89F7-40F6-9FB1-62CC4841294C}" dt="2026-04-07T07:29:51.583" v="19" actId="20577"/>
      <pc:docMkLst>
        <pc:docMk/>
      </pc:docMkLst>
      <pc:sldChg chg="add">
        <pc:chgData name="Константин Фёдоров" userId="112526845455c7e5" providerId="LiveId" clId="{4B8892EE-89F7-40F6-9FB1-62CC4841294C}" dt="2026-04-07T06:00:59.286" v="2"/>
        <pc:sldMkLst>
          <pc:docMk/>
          <pc:sldMk cId="2397652034" sldId="256"/>
        </pc:sldMkLst>
      </pc:sldChg>
      <pc:sldChg chg="modSp mod">
        <pc:chgData name="Константин Фёдоров" userId="112526845455c7e5" providerId="LiveId" clId="{4B8892EE-89F7-40F6-9FB1-62CC4841294C}" dt="2026-04-07T07:29:51.583" v="19" actId="20577"/>
        <pc:sldMkLst>
          <pc:docMk/>
          <pc:sldMk cId="4097246594" sldId="257"/>
        </pc:sldMkLst>
        <pc:spChg chg="mod">
          <ac:chgData name="Константин Фёдоров" userId="112526845455c7e5" providerId="LiveId" clId="{4B8892EE-89F7-40F6-9FB1-62CC4841294C}" dt="2026-04-07T07:29:51.583" v="19" actId="20577"/>
          <ac:spMkLst>
            <pc:docMk/>
            <pc:sldMk cId="4097246594" sldId="257"/>
            <ac:spMk id="4" creationId="{00000000-0000-0000-0000-000000000000}"/>
          </ac:spMkLst>
        </pc:spChg>
      </pc:sldChg>
      <pc:sldChg chg="add">
        <pc:chgData name="Константин Фёдоров" userId="112526845455c7e5" providerId="LiveId" clId="{4B8892EE-89F7-40F6-9FB1-62CC4841294C}" dt="2026-04-07T06:01:06.749" v="3"/>
        <pc:sldMkLst>
          <pc:docMk/>
          <pc:sldMk cId="3049657271" sldId="258"/>
        </pc:sldMkLst>
      </pc:sldChg>
      <pc:sldChg chg="add">
        <pc:chgData name="Константин Фёдоров" userId="112526845455c7e5" providerId="LiveId" clId="{4B8892EE-89F7-40F6-9FB1-62CC4841294C}" dt="2026-04-07T06:01:24.731" v="4"/>
        <pc:sldMkLst>
          <pc:docMk/>
          <pc:sldMk cId="1751726151" sldId="259"/>
        </pc:sldMkLst>
      </pc:sldChg>
      <pc:sldChg chg="add">
        <pc:chgData name="Константин Фёдоров" userId="112526845455c7e5" providerId="LiveId" clId="{4B8892EE-89F7-40F6-9FB1-62CC4841294C}" dt="2026-04-07T06:01:34.547" v="6"/>
        <pc:sldMkLst>
          <pc:docMk/>
          <pc:sldMk cId="3323340930" sldId="261"/>
        </pc:sldMkLst>
      </pc:sldChg>
      <pc:sldChg chg="add">
        <pc:chgData name="Константин Фёдоров" userId="112526845455c7e5" providerId="LiveId" clId="{4B8892EE-89F7-40F6-9FB1-62CC4841294C}" dt="2026-04-07T06:01:48.990" v="7"/>
        <pc:sldMkLst>
          <pc:docMk/>
          <pc:sldMk cId="1822160135" sldId="262"/>
        </pc:sldMkLst>
      </pc:sldChg>
      <pc:sldChg chg="modSp mod">
        <pc:chgData name="Константин Фёдоров" userId="112526845455c7e5" providerId="LiveId" clId="{4B8892EE-89F7-40F6-9FB1-62CC4841294C}" dt="2026-04-07T05:57:56.660" v="1" actId="20577"/>
        <pc:sldMkLst>
          <pc:docMk/>
          <pc:sldMk cId="2477886976" sldId="267"/>
        </pc:sldMkLst>
        <pc:spChg chg="mod">
          <ac:chgData name="Константин Фёдоров" userId="112526845455c7e5" providerId="LiveId" clId="{4B8892EE-89F7-40F6-9FB1-62CC4841294C}" dt="2026-04-07T05:57:56.660" v="1" actId="20577"/>
          <ac:spMkLst>
            <pc:docMk/>
            <pc:sldMk cId="2477886976" sldId="267"/>
            <ac:spMk id="87" creationId="{8E599FEC-8E8D-4764-A53B-C3B513D7F865}"/>
          </ac:spMkLst>
        </pc:spChg>
      </pc:sldChg>
      <pc:sldChg chg="add">
        <pc:chgData name="Константин Фёдоров" userId="112526845455c7e5" providerId="LiveId" clId="{4B8892EE-89F7-40F6-9FB1-62CC4841294C}" dt="2026-04-07T06:01:28.211" v="5"/>
        <pc:sldMkLst>
          <pc:docMk/>
          <pc:sldMk cId="2109371202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5B4C3-D350-4015-A66F-A0B801A95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08EFB3-C139-42C6-8E5D-9F7DC44D9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3D4E-E03B-49EC-BFA4-7DD7D001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91C8EB-B3F1-42F6-8E1A-CA5263FAB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8D12A-2CB8-41F6-98AB-1824ADF0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38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CE923-5844-42B0-AFC6-5A5A0C53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5175D-B82E-4557-A7FD-4B768BC2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F1D5C-4474-427E-8076-23114EEC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263414-0666-4530-8C6D-AD0DD35D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E6BECE-FD0C-45C0-A98D-89B128EC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63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FE0DC-1213-4428-857F-BCD6738B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BCC72C-11F9-4744-86A9-9ABC3AD0C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526278-AA5E-4D36-A7DF-B49CD1CF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1A7068-C228-4471-800F-5381CAA1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C7205-ED37-4AD3-B734-D5152E93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22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8DC99-1695-413C-9E9C-285FC3AF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C8446-5F88-48C1-8705-361E4B0B7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F9A73-63A6-446B-AA1E-E1B1AE3DF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4B0067-E56E-45C9-8669-226F4D6D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6B82D6-B8E4-442E-8FE6-388F5C9D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AE55A5-308F-4FC7-B58C-2DAFE3E5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04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1DFAA-9D47-4B43-888D-DD3CD246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C77F18-EE54-4BC7-9446-C3763B5BB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A5D02F-AF59-4F2F-B9AD-3C588E099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320B87-8A86-4BF3-89F6-BB0875A38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620B1A-836E-4B9A-B1F1-405DCDC6C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3A3331-FCBB-4F1C-97D0-FE92E446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694757D-AEFC-4FB1-87FF-A6E6B593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30686F-F48C-46A7-92EC-7FFCDA4B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33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0607C-22AC-429B-8381-F55CF326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E76BD4-843A-48C5-9DF7-8BB5910D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D18ECE-1362-45EA-8433-8824DB06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7F2FAF-319F-41B9-BE98-047EF9F6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02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DBAE38-C05C-4CA9-BFD8-E3FB5DB5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8575FE-E247-4901-8B23-92F444D3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59113A-8CF6-4B8D-8F88-FAE7424B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76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0ABC8-9C61-4E6B-A0C6-1C697985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DDAD7D-B70A-4768-9F4D-0010762B1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530743-6385-45FC-92D4-0433DB66E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9F34E5-9AAA-4ACF-B264-E8D532A5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1F4184-BEEE-4FE1-A8F4-9FA8EA44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EE8B5A-6FDA-4AF8-B3A7-13209F1F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04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CD764-1A11-45B8-8003-21EE9AD02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93B4B3-4158-4828-A199-862AB37D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9A1664-9084-426B-9C72-7F38DB56F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8457C-D6F0-45AE-8652-FC1534BB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5CF819-CA42-4F7B-AF62-6B73BE92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377B5-CFB2-4E63-AD9F-69B7492C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42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40CA-B402-48C1-A2B6-0F3AC371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584F98-1D1C-4C4D-B192-E50DC898C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F2FEAC-D696-4DA9-9984-827C9717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A6FC2-B6FE-4DCA-9D02-53F6B49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82BD05-FBFC-48DF-BD64-FAB54EA5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58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677CAA9-944A-4252-9493-E39892A73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D857D6-6D64-4885-AA0A-82D18AF0C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60B0A4-30E7-4D68-8A36-E57F4D0D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D7388C-2634-4F62-B6C7-F8EE88BF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CB9665-A01D-4E3F-9620-B2F31443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79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1BF74-9172-4F2E-984A-98B4C7D6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99D7F7-FE73-45FF-BECC-5F0D5BC3F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271A04-0652-47C2-9F1E-EC39586AE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1A3EA-4B4B-499E-95D2-5FACC72BD44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DAA053-5A54-46AE-840E-2B1756C91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F308EC-6B51-4AA4-975B-BF2A901A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DBC58-94A1-4C42-BA3C-4E7F6CEFAD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21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099511"/>
            <a:ext cx="121920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600"/>
            </a:pPr>
            <a:endParaRPr lang="ru-RU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ДИПЛОМНАЯ РАБОТА</a:t>
            </a:r>
            <a:endParaRPr lang="ru-RU" dirty="0"/>
          </a:p>
          <a:p>
            <a:pPr lvl="0" algn="ctr">
              <a:buClr>
                <a:schemeClr val="dk1"/>
              </a:buClr>
              <a:buSzPts val="1600"/>
            </a:pPr>
            <a:endParaRPr lang="ru-RU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</a:t>
            </a:r>
            <a:endParaRPr lang="ru-RU" dirty="0"/>
          </a:p>
          <a:p>
            <a:pPr lvl="0" algn="ctr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0" algn="ctr"/>
            <a:r>
              <a:rPr lang="ru-RU" sz="2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информационной системы интернет магазина по продаже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переферийного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оборудования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lang="ru-RU"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chemeClr val="dk1"/>
              </a:buClr>
              <a:buSzPts val="1400"/>
            </a:pPr>
            <a:endParaRPr lang="ru-RU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ru-RU" sz="2000" b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Федоров Константин</a:t>
            </a:r>
            <a:endParaRPr lang="ru-RU" dirty="0"/>
          </a:p>
          <a:p>
            <a:pPr lvl="0" algn="r">
              <a:buClr>
                <a:schemeClr val="dk1"/>
              </a:buClr>
              <a:buSzPts val="1400"/>
            </a:pPr>
            <a:endParaRPr lang="ru-RU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r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Студента группы ПИВУКИС - 22</a:t>
            </a:r>
            <a:endParaRPr lang="ru-RU" dirty="0"/>
          </a:p>
          <a:p>
            <a:pPr lvl="0" algn="r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очной формы обучения </a:t>
            </a:r>
            <a:endParaRPr lang="ru-RU" dirty="0"/>
          </a:p>
          <a:p>
            <a:pPr lvl="0" algn="r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Направления подготовки </a:t>
            </a:r>
            <a:b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09.03.03 Прикладная информатика</a:t>
            </a:r>
            <a:endParaRPr lang="ru-RU" dirty="0"/>
          </a:p>
          <a:p>
            <a:pPr lvl="0" algn="r">
              <a:buClr>
                <a:schemeClr val="dk1"/>
              </a:buClr>
              <a:buSzPts val="1600"/>
            </a:pP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 </a:t>
            </a:r>
            <a:endParaRPr lang="ru-RU" dirty="0"/>
          </a:p>
          <a:p>
            <a:pPr lvl="0" algn="r"/>
            <a:r>
              <a:rPr lang="ru-RU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Брадул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Н.В.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МИСТЕРСТВО НАУКИ И ВЫСШЕГО ОБРАЗОВАНИЯ</a:t>
            </a:r>
            <a:endParaRPr lang="ru-RU" dirty="0">
              <a:effectLst/>
            </a:endParaRPr>
          </a:p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РОССИЙСКОЙ ФЕДЕРАЦИИ</a:t>
            </a:r>
            <a:endParaRPr lang="ru-RU" dirty="0">
              <a:effectLst/>
            </a:endParaRPr>
          </a:p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dirty="0">
              <a:effectLst/>
            </a:endParaRPr>
          </a:p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«РОССИЙСКАЯ АКАДЕМИЯ НАРОДНОГО  ХОЗЯЙСТВА И ГОСУДАРСТВЕННОЙ СЛУЖБЫ  ПРИ ПРЕЗИДЕНТЕ РОССИЙСКОЙ ФЕДЕРАЦИИ»</a:t>
            </a:r>
            <a:endParaRPr lang="ru-RU" dirty="0">
              <a:effectLst/>
            </a:endParaRPr>
          </a:p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государственной службы и управления</a:t>
            </a:r>
            <a:endParaRPr lang="ru-RU" dirty="0">
              <a:effectLst/>
            </a:endParaRPr>
          </a:p>
          <a:p>
            <a:pPr indent="118872"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технологий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794990" y="6372545"/>
            <a:ext cx="1438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Донецк 2026</a:t>
            </a:r>
          </a:p>
        </p:txBody>
      </p:sp>
    </p:spTree>
    <p:extLst>
      <p:ext uri="{BB962C8B-B14F-4D97-AF65-F5344CB8AC3E}">
        <p14:creationId xmlns:p14="http://schemas.microsoft.com/office/powerpoint/2010/main" val="409724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54810" y="12026"/>
            <a:ext cx="4231928" cy="5222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Объект, предмет, цель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8249" y="2598003"/>
            <a:ext cx="119473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информационного сопровождения и коммуникационной деятельности торговой организации в современной цифровой среде.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1309" y="3660262"/>
            <a:ext cx="112983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</a:rPr>
              <a:t>Предмет исследования</a:t>
            </a:r>
            <a:r>
              <a:rPr lang="ru-RU" sz="2400" dirty="0">
                <a:effectLst/>
              </a:rPr>
              <a:t>. Методы и технологии проектирования, разработки и внедрения информационной системы интернет-магазина по продаже периферийного оборудования.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1309" y="961048"/>
            <a:ext cx="119012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Цель</a:t>
            </a:r>
            <a:r>
              <a:rPr lang="ru-RU" sz="2400" dirty="0">
                <a:effectLst/>
              </a:rPr>
              <a:t>. Разработка современного, многофункционального и информационно наполненного веб-сайта интернет-магазина по продаже периферийного оборудования с использованием HTML, CSS, </a:t>
            </a:r>
            <a:r>
              <a:rPr lang="ru-RU" sz="2400" dirty="0" err="1">
                <a:effectLst/>
              </a:rPr>
              <a:t>JavaScript</a:t>
            </a:r>
            <a:r>
              <a:rPr lang="ru-RU" sz="2400" dirty="0">
                <a:effectLst/>
              </a:rPr>
              <a:t> и </a:t>
            </a:r>
            <a:r>
              <a:rPr lang="ru-RU" sz="2400" dirty="0" err="1">
                <a:effectLst/>
              </a:rPr>
              <a:t>MySQL</a:t>
            </a:r>
            <a:endParaRPr lang="ru-RU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311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6331" y="-55727"/>
            <a:ext cx="11375858" cy="983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07000"/>
              </a:lnSpc>
              <a:spcBef>
                <a:spcPts val="200"/>
              </a:spcBef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переферийного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магазина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016" y="1546058"/>
            <a:ext cx="103531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связи с активным ростом рынка периферийного оборудования (игровые и офисные клавиатуры, мыши, наушники, мониторы, веб-камеры и др.) и увеличением онлайн-покупок значительно возрос объём информации, связанной с товарами, заказами, клиентами и складом.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информационной системы позволит автоматизировать процессы продаж, управления товарами и заказами, повысить удобство для покупателей и эффективность работы магазина.</a:t>
            </a:r>
          </a:p>
        </p:txBody>
      </p:sp>
    </p:spTree>
    <p:extLst>
      <p:ext uri="{BB962C8B-B14F-4D97-AF65-F5344CB8AC3E}">
        <p14:creationId xmlns:p14="http://schemas.microsoft.com/office/powerpoint/2010/main" val="4131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931901" y="0"/>
            <a:ext cx="2710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проекта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4221" y="908384"/>
            <a:ext cx="117588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существующие решения для управления интернет-магазином периферийного оборудования;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базы данных и пользовательский интерфейс;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систему на базе технологий HTML, CSS,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функционал регистрации, каталога, корзины и оформления заказов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2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76781" y="0"/>
            <a:ext cx="8382166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Интерес действующих и заинтересованных лиц</a:t>
            </a:r>
            <a:endParaRPr lang="ru-RU" sz="2800" u="none" strike="noStrik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9055" y="968451"/>
            <a:ext cx="1149617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Действующие лица (ДЛ):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 интернет-магазина (управление товарами, заказами и отчётностью)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Менеджеры/администраторы (обработка заказов, управление складом)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Покупатели (просмотр товаров, оформление заказов, отслеживание доставки)</a:t>
            </a:r>
          </a:p>
          <a:p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Заинтересованные лица (ЗЛ):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проекта (успешная реализация дипломной работы)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Поставщики оборудования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Курьерские службы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Органы по защите прав потребителей</a:t>
            </a:r>
          </a:p>
        </p:txBody>
      </p:sp>
    </p:spTree>
    <p:extLst>
      <p:ext uri="{BB962C8B-B14F-4D97-AF65-F5344CB8AC3E}">
        <p14:creationId xmlns:p14="http://schemas.microsoft.com/office/powerpoint/2010/main" val="339210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8A0C9-B4EF-40BB-BA03-33729ABA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48" y="175514"/>
            <a:ext cx="9500616" cy="744347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effectLst/>
              </a:rPr>
              <a:t>Карта эмпатии</a:t>
            </a:r>
            <a:br>
              <a:rPr lang="ru-RU" sz="2000" dirty="0">
                <a:effectLst/>
              </a:rPr>
            </a:br>
            <a:r>
              <a:rPr lang="ru-RU" sz="2000" dirty="0">
                <a:effectLst/>
              </a:rPr>
              <a:t>Покупатель интернет-магазина периферийного оборудования</a:t>
            </a:r>
            <a:endParaRPr lang="ru-RU" sz="2000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CE983B4-D5BF-44CC-A0A0-EA781D15A714}"/>
              </a:ext>
            </a:extLst>
          </p:cNvPr>
          <p:cNvSpPr/>
          <p:nvPr/>
        </p:nvSpPr>
        <p:spPr>
          <a:xfrm>
            <a:off x="2060449" y="1048512"/>
            <a:ext cx="2711176" cy="2511552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ffectLst/>
              </a:rPr>
              <a:t>ГОВОРИТ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Хочу быстрый поиск по характеристикам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Обязательно нужны честные отзывы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Доставка должна быть быстрой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Есть ли гарантия и возврат?</a:t>
            </a:r>
            <a:endParaRPr lang="ru-RU" dirty="0">
              <a:effectLst/>
            </a:endParaRPr>
          </a:p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9006AB9-8A61-4794-AF2B-59369F7D614E}"/>
              </a:ext>
            </a:extLst>
          </p:cNvPr>
          <p:cNvSpPr/>
          <p:nvPr/>
        </p:nvSpPr>
        <p:spPr>
          <a:xfrm>
            <a:off x="5575556" y="4017899"/>
            <a:ext cx="2791968" cy="251155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effectLst/>
              </a:rPr>
              <a:t>ЧУВСТВУЕТ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Удовлетворение от удобного интерфейса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Раздражение при долгой загрузке сайта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Радость от быстрой доставки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Доверие при наличии подробных описаний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816AC4C-7701-4119-A769-DC40B12FED17}"/>
              </a:ext>
            </a:extLst>
          </p:cNvPr>
          <p:cNvSpPr/>
          <p:nvPr/>
        </p:nvSpPr>
        <p:spPr>
          <a:xfrm>
            <a:off x="2060448" y="4061206"/>
            <a:ext cx="2791968" cy="251155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effectLst/>
              </a:rPr>
              <a:t>ДЕЛАЕТ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Сравнивает характеристики товаров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Читает отзывы и смотрит рейтинги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Добавляет товары в корзину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Оформляет заказ и отслеживает доставку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effectLst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4D7E169-B98C-4C9C-8375-8A4C6405BCE0}"/>
              </a:ext>
            </a:extLst>
          </p:cNvPr>
          <p:cNvSpPr/>
          <p:nvPr/>
        </p:nvSpPr>
        <p:spPr>
          <a:xfrm>
            <a:off x="5575556" y="1048512"/>
            <a:ext cx="2791968" cy="251155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effectLst/>
              </a:rPr>
              <a:t>ДУМАЕТ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Не переплатил ли я?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Подойдёт ли это оборудование к моему компьютеру?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Качество товара соответствует цене?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Надёжный ли этот магазин?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794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065959" y="130504"/>
            <a:ext cx="7160999" cy="11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диаграмма</a:t>
            </a:r>
          </a:p>
          <a:p>
            <a:pPr indent="450215" algn="ctr">
              <a:lnSpc>
                <a:spcPct val="150000"/>
              </a:lnSpc>
            </a:pPr>
            <a:r>
              <a:rPr lang="ru-RU" sz="24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рмационной системы интернет-магазина</a:t>
            </a:r>
            <a:endParaRPr lang="ru-RU" sz="2400" u="none" strike="noStrik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2E6E490-8721-4F16-BD99-1B453265AB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83464"/>
            <a:ext cx="3297936" cy="329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4" descr="Изображение">
            <a:extLst>
              <a:ext uri="{FF2B5EF4-FFF2-40B4-BE49-F238E27FC236}">
                <a16:creationId xmlns:a16="http://schemas.microsoft.com/office/drawing/2014/main" id="{25A49927-17EA-4245-A381-A3706407C8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34568"/>
            <a:ext cx="2846832" cy="284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B812CCB-621B-4105-8114-46610ABA5361}"/>
              </a:ext>
            </a:extLst>
          </p:cNvPr>
          <p:cNvSpPr/>
          <p:nvPr/>
        </p:nvSpPr>
        <p:spPr>
          <a:xfrm>
            <a:off x="4821936" y="2880360"/>
            <a:ext cx="2548128" cy="1402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периферийного оборудования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C81F4A0-B31C-4443-AAB0-4215A4BE60A3}"/>
              </a:ext>
            </a:extLst>
          </p:cNvPr>
          <p:cNvSpPr/>
          <p:nvPr/>
        </p:nvSpPr>
        <p:spPr>
          <a:xfrm>
            <a:off x="1109472" y="2907911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 товаров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AA74B71-7C9A-4264-8A0C-D25B90119B89}"/>
              </a:ext>
            </a:extLst>
          </p:cNvPr>
          <p:cNvSpPr/>
          <p:nvPr/>
        </p:nvSpPr>
        <p:spPr>
          <a:xfrm>
            <a:off x="1109472" y="3595175"/>
            <a:ext cx="3036387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фильтры по характеристикам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ECAA7FA-FE58-45D4-8C75-B49C3A992EA4}"/>
              </a:ext>
            </a:extLst>
          </p:cNvPr>
          <p:cNvSpPr/>
          <p:nvPr/>
        </p:nvSpPr>
        <p:spPr>
          <a:xfrm>
            <a:off x="1109472" y="4282440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карточки товара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1837F60-D52F-45AD-82CD-31315E37373E}"/>
              </a:ext>
            </a:extLst>
          </p:cNvPr>
          <p:cNvSpPr/>
          <p:nvPr/>
        </p:nvSpPr>
        <p:spPr>
          <a:xfrm>
            <a:off x="1109472" y="5001111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 корзину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358D242-CADE-4C8C-A899-3C39DE2F0FB8}"/>
              </a:ext>
            </a:extLst>
          </p:cNvPr>
          <p:cNvSpPr/>
          <p:nvPr/>
        </p:nvSpPr>
        <p:spPr>
          <a:xfrm>
            <a:off x="1109472" y="5768504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9A84545-E3C1-4AC3-A331-CA817EF093EB}"/>
              </a:ext>
            </a:extLst>
          </p:cNvPr>
          <p:cNvSpPr/>
          <p:nvPr/>
        </p:nvSpPr>
        <p:spPr>
          <a:xfrm>
            <a:off x="7916487" y="3687901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заказами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FCAA6DE-2537-472E-A759-5F670CA1315F}"/>
              </a:ext>
            </a:extLst>
          </p:cNvPr>
          <p:cNvSpPr/>
          <p:nvPr/>
        </p:nvSpPr>
        <p:spPr>
          <a:xfrm>
            <a:off x="7916487" y="2919211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категориями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2137B08-5177-4557-AB18-78257849DB69}"/>
              </a:ext>
            </a:extLst>
          </p:cNvPr>
          <p:cNvSpPr/>
          <p:nvPr/>
        </p:nvSpPr>
        <p:spPr>
          <a:xfrm>
            <a:off x="1109472" y="2157983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426B364-88BF-432E-A761-32CA637BA698}"/>
              </a:ext>
            </a:extLst>
          </p:cNvPr>
          <p:cNvSpPr/>
          <p:nvPr/>
        </p:nvSpPr>
        <p:spPr>
          <a:xfrm>
            <a:off x="7925908" y="2157984"/>
            <a:ext cx="2999232" cy="452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товарами (</a:t>
            </a:r>
            <a:r>
              <a:rPr lang="en-US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9DCAE5-64E7-4D0B-8562-D89BF6D10D92}"/>
              </a:ext>
            </a:extLst>
          </p:cNvPr>
          <p:cNvSpPr txBox="1"/>
          <p:nvPr/>
        </p:nvSpPr>
        <p:spPr>
          <a:xfrm>
            <a:off x="1109472" y="1593878"/>
            <a:ext cx="2999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пользователей(клиентов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73A0BA-CC49-4C4A-BA5A-80011351A8CE}"/>
              </a:ext>
            </a:extLst>
          </p:cNvPr>
          <p:cNvSpPr txBox="1"/>
          <p:nvPr/>
        </p:nvSpPr>
        <p:spPr>
          <a:xfrm>
            <a:off x="7925908" y="1622798"/>
            <a:ext cx="2999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администратора</a:t>
            </a:r>
          </a:p>
        </p:txBody>
      </p:sp>
      <p:pic>
        <p:nvPicPr>
          <p:cNvPr id="31" name="Рисунок 30" descr="Пользователь">
            <a:extLst>
              <a:ext uri="{FF2B5EF4-FFF2-40B4-BE49-F238E27FC236}">
                <a16:creationId xmlns:a16="http://schemas.microsoft.com/office/drawing/2014/main" id="{ADA3C493-F859-408B-B25E-8DE80ECF9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472" y="2157982"/>
            <a:ext cx="452409" cy="452409"/>
          </a:xfrm>
          <a:prstGeom prst="rect">
            <a:avLst/>
          </a:prstGeom>
        </p:spPr>
      </p:pic>
      <p:pic>
        <p:nvPicPr>
          <p:cNvPr id="33" name="Рисунок 32" descr="База данных">
            <a:extLst>
              <a:ext uri="{FF2B5EF4-FFF2-40B4-BE49-F238E27FC236}">
                <a16:creationId xmlns:a16="http://schemas.microsoft.com/office/drawing/2014/main" id="{8BB16FA2-2FBE-4A19-AD73-1C02A30B9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5334593"/>
            <a:ext cx="914400" cy="914400"/>
          </a:xfrm>
          <a:prstGeom prst="rect">
            <a:avLst/>
          </a:prstGeom>
        </p:spPr>
      </p:pic>
      <p:pic>
        <p:nvPicPr>
          <p:cNvPr id="35" name="Рисунок 34" descr="Ежедневник">
            <a:extLst>
              <a:ext uri="{FF2B5EF4-FFF2-40B4-BE49-F238E27FC236}">
                <a16:creationId xmlns:a16="http://schemas.microsoft.com/office/drawing/2014/main" id="{41BB78E3-DFC0-48B8-9BA7-BD947FCC41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2989" y="2171926"/>
            <a:ext cx="449766" cy="449766"/>
          </a:xfrm>
          <a:prstGeom prst="rect">
            <a:avLst/>
          </a:prstGeom>
        </p:spPr>
      </p:pic>
      <p:pic>
        <p:nvPicPr>
          <p:cNvPr id="37" name="Рисунок 36" descr="Значок сотрудника">
            <a:extLst>
              <a:ext uri="{FF2B5EF4-FFF2-40B4-BE49-F238E27FC236}">
                <a16:creationId xmlns:a16="http://schemas.microsoft.com/office/drawing/2014/main" id="{04A03E54-463F-4E3D-A269-243F1094A1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5495" y="4262687"/>
            <a:ext cx="445080" cy="445080"/>
          </a:xfrm>
          <a:prstGeom prst="rect">
            <a:avLst/>
          </a:prstGeom>
        </p:spPr>
      </p:pic>
      <p:pic>
        <p:nvPicPr>
          <p:cNvPr id="39" name="Рисунок 38" descr="Киоск">
            <a:extLst>
              <a:ext uri="{FF2B5EF4-FFF2-40B4-BE49-F238E27FC236}">
                <a16:creationId xmlns:a16="http://schemas.microsoft.com/office/drawing/2014/main" id="{F6D61103-18AC-492B-97C8-1C01AF7B0D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5909" y="2907912"/>
            <a:ext cx="472160" cy="472160"/>
          </a:xfrm>
          <a:prstGeom prst="rect">
            <a:avLst/>
          </a:prstGeom>
        </p:spPr>
      </p:pic>
      <p:pic>
        <p:nvPicPr>
          <p:cNvPr id="41" name="Рисунок 40" descr="Лупа">
            <a:extLst>
              <a:ext uri="{FF2B5EF4-FFF2-40B4-BE49-F238E27FC236}">
                <a16:creationId xmlns:a16="http://schemas.microsoft.com/office/drawing/2014/main" id="{D3C30E59-99FD-45BB-9716-3281880F88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7465" y="3605995"/>
            <a:ext cx="452409" cy="452409"/>
          </a:xfrm>
          <a:prstGeom prst="rect">
            <a:avLst/>
          </a:prstGeom>
        </p:spPr>
      </p:pic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1664E90-3A37-41DD-AA9A-D43E7BF2EAA9}"/>
              </a:ext>
            </a:extLst>
          </p:cNvPr>
          <p:cNvCxnSpPr>
            <a:stCxn id="8" idx="2"/>
            <a:endCxn id="33" idx="0"/>
          </p:cNvCxnSpPr>
          <p:nvPr/>
        </p:nvCxnSpPr>
        <p:spPr>
          <a:xfrm>
            <a:off x="6096000" y="4282440"/>
            <a:ext cx="0" cy="1052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: изогнутый 45">
            <a:extLst>
              <a:ext uri="{FF2B5EF4-FFF2-40B4-BE49-F238E27FC236}">
                <a16:creationId xmlns:a16="http://schemas.microsoft.com/office/drawing/2014/main" id="{D54C5AB2-AD20-4388-BF71-C49BA5031B9A}"/>
              </a:ext>
            </a:extLst>
          </p:cNvPr>
          <p:cNvCxnSpPr>
            <a:stCxn id="8" idx="1"/>
            <a:endCxn id="25" idx="3"/>
          </p:cNvCxnSpPr>
          <p:nvPr/>
        </p:nvCxnSpPr>
        <p:spPr>
          <a:xfrm rot="10800000">
            <a:off x="4108704" y="2384188"/>
            <a:ext cx="713232" cy="1197212"/>
          </a:xfrm>
          <a:prstGeom prst="curvedConnector3">
            <a:avLst>
              <a:gd name="adj1" fmla="val 72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изогнутый 47">
            <a:extLst>
              <a:ext uri="{FF2B5EF4-FFF2-40B4-BE49-F238E27FC236}">
                <a16:creationId xmlns:a16="http://schemas.microsoft.com/office/drawing/2014/main" id="{9F41B390-CB48-42C9-B04A-E2AA7E36A632}"/>
              </a:ext>
            </a:extLst>
          </p:cNvPr>
          <p:cNvCxnSpPr>
            <a:stCxn id="8" idx="1"/>
            <a:endCxn id="13" idx="3"/>
          </p:cNvCxnSpPr>
          <p:nvPr/>
        </p:nvCxnSpPr>
        <p:spPr>
          <a:xfrm rot="10800000">
            <a:off x="4108704" y="3134116"/>
            <a:ext cx="713232" cy="447284"/>
          </a:xfrm>
          <a:prstGeom prst="curvedConnector3">
            <a:avLst>
              <a:gd name="adj1" fmla="val 264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изогнутый 49">
            <a:extLst>
              <a:ext uri="{FF2B5EF4-FFF2-40B4-BE49-F238E27FC236}">
                <a16:creationId xmlns:a16="http://schemas.microsoft.com/office/drawing/2014/main" id="{81CE99EE-8FFD-45C4-9BCE-0F78AEFAB6D2}"/>
              </a:ext>
            </a:extLst>
          </p:cNvPr>
          <p:cNvCxnSpPr>
            <a:stCxn id="8" idx="1"/>
            <a:endCxn id="19" idx="3"/>
          </p:cNvCxnSpPr>
          <p:nvPr/>
        </p:nvCxnSpPr>
        <p:spPr>
          <a:xfrm rot="10800000" flipV="1">
            <a:off x="4145860" y="3581400"/>
            <a:ext cx="676077" cy="239980"/>
          </a:xfrm>
          <a:prstGeom prst="curvedConnector3">
            <a:avLst>
              <a:gd name="adj1" fmla="val 556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Соединитель: изогнутый 52">
            <a:extLst>
              <a:ext uri="{FF2B5EF4-FFF2-40B4-BE49-F238E27FC236}">
                <a16:creationId xmlns:a16="http://schemas.microsoft.com/office/drawing/2014/main" id="{6A42F0A0-F83C-42B5-B77D-7CD8E9DD56A2}"/>
              </a:ext>
            </a:extLst>
          </p:cNvPr>
          <p:cNvCxnSpPr>
            <a:stCxn id="8" idx="1"/>
            <a:endCxn id="20" idx="3"/>
          </p:cNvCxnSpPr>
          <p:nvPr/>
        </p:nvCxnSpPr>
        <p:spPr>
          <a:xfrm rot="10800000" flipV="1">
            <a:off x="4108704" y="3581399"/>
            <a:ext cx="713232" cy="9272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Соединитель: изогнутый 54">
            <a:extLst>
              <a:ext uri="{FF2B5EF4-FFF2-40B4-BE49-F238E27FC236}">
                <a16:creationId xmlns:a16="http://schemas.microsoft.com/office/drawing/2014/main" id="{09BC969F-1C5F-45D8-B7FB-DBA694428024}"/>
              </a:ext>
            </a:extLst>
          </p:cNvPr>
          <p:cNvCxnSpPr>
            <a:stCxn id="8" idx="1"/>
            <a:endCxn id="21" idx="3"/>
          </p:cNvCxnSpPr>
          <p:nvPr/>
        </p:nvCxnSpPr>
        <p:spPr>
          <a:xfrm rot="10800000" flipV="1">
            <a:off x="4108704" y="3581400"/>
            <a:ext cx="713232" cy="1645916"/>
          </a:xfrm>
          <a:prstGeom prst="curvedConnector3">
            <a:avLst>
              <a:gd name="adj1" fmla="val 318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Соединитель: изогнутый 56">
            <a:extLst>
              <a:ext uri="{FF2B5EF4-FFF2-40B4-BE49-F238E27FC236}">
                <a16:creationId xmlns:a16="http://schemas.microsoft.com/office/drawing/2014/main" id="{C6A3E2B2-7993-4FEF-811B-639A010C1B9A}"/>
              </a:ext>
            </a:extLst>
          </p:cNvPr>
          <p:cNvCxnSpPr>
            <a:stCxn id="8" idx="1"/>
            <a:endCxn id="22" idx="3"/>
          </p:cNvCxnSpPr>
          <p:nvPr/>
        </p:nvCxnSpPr>
        <p:spPr>
          <a:xfrm rot="10800000" flipV="1">
            <a:off x="4108704" y="3581399"/>
            <a:ext cx="713232" cy="2413309"/>
          </a:xfrm>
          <a:prstGeom prst="curvedConnector3">
            <a:avLst>
              <a:gd name="adj1" fmla="val 168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: изогнутый 58">
            <a:extLst>
              <a:ext uri="{FF2B5EF4-FFF2-40B4-BE49-F238E27FC236}">
                <a16:creationId xmlns:a16="http://schemas.microsoft.com/office/drawing/2014/main" id="{40CA4BF3-3A4F-48D3-B772-9EE737F4B433}"/>
              </a:ext>
            </a:extLst>
          </p:cNvPr>
          <p:cNvCxnSpPr>
            <a:stCxn id="8" idx="3"/>
            <a:endCxn id="26" idx="1"/>
          </p:cNvCxnSpPr>
          <p:nvPr/>
        </p:nvCxnSpPr>
        <p:spPr>
          <a:xfrm flipV="1">
            <a:off x="7370064" y="2384189"/>
            <a:ext cx="555844" cy="1197211"/>
          </a:xfrm>
          <a:prstGeom prst="curvedConnector3">
            <a:avLst>
              <a:gd name="adj1" fmla="val 157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Соединитель: изогнутый 61">
            <a:extLst>
              <a:ext uri="{FF2B5EF4-FFF2-40B4-BE49-F238E27FC236}">
                <a16:creationId xmlns:a16="http://schemas.microsoft.com/office/drawing/2014/main" id="{C2E4F3B7-6C4D-4B76-AF1C-865FCB96A198}"/>
              </a:ext>
            </a:extLst>
          </p:cNvPr>
          <p:cNvCxnSpPr>
            <a:stCxn id="8" idx="3"/>
            <a:endCxn id="39" idx="1"/>
          </p:cNvCxnSpPr>
          <p:nvPr/>
        </p:nvCxnSpPr>
        <p:spPr>
          <a:xfrm flipV="1">
            <a:off x="7370064" y="3143992"/>
            <a:ext cx="555845" cy="437408"/>
          </a:xfrm>
          <a:prstGeom prst="curvedConnector3">
            <a:avLst>
              <a:gd name="adj1" fmla="val 253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Соединитель: изогнутый 63">
            <a:extLst>
              <a:ext uri="{FF2B5EF4-FFF2-40B4-BE49-F238E27FC236}">
                <a16:creationId xmlns:a16="http://schemas.microsoft.com/office/drawing/2014/main" id="{842DD140-8C2E-4EFA-A473-87BC6E821658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7370064" y="3581400"/>
            <a:ext cx="546423" cy="3327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Рисунок 74" descr="Круговая диаграмма">
            <a:extLst>
              <a:ext uri="{FF2B5EF4-FFF2-40B4-BE49-F238E27FC236}">
                <a16:creationId xmlns:a16="http://schemas.microsoft.com/office/drawing/2014/main" id="{1544B35D-E333-48BC-BD33-7A40087DCF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2574" y="2884047"/>
            <a:ext cx="517665" cy="517665"/>
          </a:xfrm>
          <a:prstGeom prst="rect">
            <a:avLst/>
          </a:prstGeom>
        </p:spPr>
      </p:pic>
      <p:pic>
        <p:nvPicPr>
          <p:cNvPr id="77" name="Рисунок 76" descr="Шестеренки">
            <a:extLst>
              <a:ext uri="{FF2B5EF4-FFF2-40B4-BE49-F238E27FC236}">
                <a16:creationId xmlns:a16="http://schemas.microsoft.com/office/drawing/2014/main" id="{23548838-B522-429D-B8F6-AF958ED77B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07066" y="3658811"/>
            <a:ext cx="491003" cy="491003"/>
          </a:xfrm>
          <a:prstGeom prst="rect">
            <a:avLst/>
          </a:prstGeom>
        </p:spPr>
      </p:pic>
      <p:pic>
        <p:nvPicPr>
          <p:cNvPr id="79" name="Рисунок 78" descr="Тележка для покупок">
            <a:extLst>
              <a:ext uri="{FF2B5EF4-FFF2-40B4-BE49-F238E27FC236}">
                <a16:creationId xmlns:a16="http://schemas.microsoft.com/office/drawing/2014/main" id="{5649AFF5-34CB-44A9-9DC1-C224FADC347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1830" y="5001111"/>
            <a:ext cx="452409" cy="452409"/>
          </a:xfrm>
          <a:prstGeom prst="rect">
            <a:avLst/>
          </a:prstGeom>
        </p:spPr>
      </p:pic>
      <p:pic>
        <p:nvPicPr>
          <p:cNvPr id="81" name="Рисунок 80" descr="Кассовый аппарат">
            <a:extLst>
              <a:ext uri="{FF2B5EF4-FFF2-40B4-BE49-F238E27FC236}">
                <a16:creationId xmlns:a16="http://schemas.microsoft.com/office/drawing/2014/main" id="{02FC9F1E-0B79-4C83-840D-DDC033A3EF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09471" y="5768504"/>
            <a:ext cx="460861" cy="46086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E599FEC-8E8D-4764-A53B-C3B513D7F865}"/>
              </a:ext>
            </a:extLst>
          </p:cNvPr>
          <p:cNvSpPr txBox="1"/>
          <p:nvPr/>
        </p:nvSpPr>
        <p:spPr>
          <a:xfrm>
            <a:off x="5356865" y="6112871"/>
            <a:ext cx="1485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88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75472" y="0"/>
            <a:ext cx="4343690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средств разработки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1262" y="885574"/>
            <a:ext cx="118089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</a:rPr>
              <a:t>HTML5</a:t>
            </a:r>
            <a:r>
              <a:rPr lang="ru-RU" sz="2400" dirty="0">
                <a:effectLst/>
              </a:rPr>
              <a:t> — создание структуры страниц и семантики </a:t>
            </a:r>
            <a:r>
              <a:rPr lang="ru-RU" sz="2400" b="1" dirty="0">
                <a:effectLst/>
              </a:rPr>
              <a:t>CSS3</a:t>
            </a:r>
            <a:r>
              <a:rPr lang="ru-RU" sz="2400" dirty="0">
                <a:effectLst/>
              </a:rPr>
              <a:t> — разработка интерфейса, адаптивного дизайна и стилизации </a:t>
            </a:r>
            <a:r>
              <a:rPr lang="ru-RU" sz="2400" b="1" dirty="0" err="1">
                <a:effectLst/>
              </a:rPr>
              <a:t>JavaScript</a:t>
            </a:r>
            <a:r>
              <a:rPr lang="ru-RU" sz="2400" dirty="0">
                <a:effectLst/>
              </a:rPr>
              <a:t> — реализация интерактивности, валидации форм и динамической работы сайта </a:t>
            </a:r>
            <a:r>
              <a:rPr lang="ru-RU" sz="2400" b="1" dirty="0" err="1">
                <a:effectLst/>
              </a:rPr>
              <a:t>MySQL</a:t>
            </a:r>
            <a:r>
              <a:rPr lang="ru-RU" sz="2400" dirty="0">
                <a:effectLst/>
              </a:rPr>
              <a:t> — хранение и управление базой данных (товары, пользователи, заказы, категории)</a:t>
            </a:r>
          </a:p>
          <a:p>
            <a:r>
              <a:rPr lang="ru-RU" sz="2400" dirty="0">
                <a:effectLst/>
              </a:rPr>
              <a:t>Сайт реализован как динамическое веб-приложение с клиентской (HTML, CSS, JS) и серверной частью.</a:t>
            </a:r>
          </a:p>
        </p:txBody>
      </p:sp>
    </p:spTree>
    <p:extLst>
      <p:ext uri="{BB962C8B-B14F-4D97-AF65-F5344CB8AC3E}">
        <p14:creationId xmlns:p14="http://schemas.microsoft.com/office/powerpoint/2010/main" val="428356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2DD4C-AA8A-44E5-841A-C6C7E46A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448"/>
            <a:ext cx="9144000" cy="670956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F1DBA-409B-4627-8708-1C3F4D3513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7730" y="1405500"/>
            <a:ext cx="5784340" cy="274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веб-сайта интернет-магазина периферийного оборудования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модулей: каталог товаров, корзина, оформление заказа, личный кабинет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(управление товарами, заказами, пользователями)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товаров, пользователей и заказов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дизайн для ПК и мобильных устройств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входит в границы проекта: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Онлайн-оплата (интеграция с платёжными системами)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доставки и интеграция с курьерскими службами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Чат с поддержкой и уведомления по SMS/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765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BF80F-2E95-4B9C-B8A9-DB752B48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проекта</a:t>
            </a:r>
            <a:endParaRPr lang="ru-RU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70DC79-7A9E-4877-95F3-530E4084E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2817"/>
            <a:ext cx="9190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ведётся одним человеком (студентом)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только стек: HTML, CSS,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PHP,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реального сервера и домена на момент разработки (используется локальный сервер) </a:t>
            </a:r>
          </a:p>
        </p:txBody>
      </p:sp>
    </p:spTree>
    <p:extLst>
      <p:ext uri="{BB962C8B-B14F-4D97-AF65-F5344CB8AC3E}">
        <p14:creationId xmlns:p14="http://schemas.microsoft.com/office/powerpoint/2010/main" val="3049657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79DA4-74BF-4FDE-A848-6505FFE7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Реестр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C48C27-9B1B-41E7-8DFC-66E9C34F4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7265" y="1690688"/>
            <a:ext cx="460760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UC-01 — Регистрация нового пользователя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UC-02 — Авторизация пользователя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UC-03 — Просмотр каталога товаров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UC-04 — Поиск и фильтрация товаров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UC-05 — Просмотр детальной карточки товара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UC-06 — Добавление товара в корзину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UC-07 — Оформление заказа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UC-08 — Просмотр истории заказов (личный кабинет)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UC-09 — Административное добавление/редактирование товаров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UC-10 — Управление заказами (изменение статуса) </a:t>
            </a:r>
          </a:p>
        </p:txBody>
      </p:sp>
    </p:spTree>
    <p:extLst>
      <p:ext uri="{BB962C8B-B14F-4D97-AF65-F5344CB8AC3E}">
        <p14:creationId xmlns:p14="http://schemas.microsoft.com/office/powerpoint/2010/main" val="1751726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ACAEA-CEA5-46FD-A815-852A3ECF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Бизнес-объекты и их движение по статусам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0DA5A15-9CBB-4047-81A6-E19A75350A34}"/>
              </a:ext>
            </a:extLst>
          </p:cNvPr>
          <p:cNvSpPr/>
          <p:nvPr/>
        </p:nvSpPr>
        <p:spPr>
          <a:xfrm>
            <a:off x="838200" y="1810987"/>
            <a:ext cx="4131623" cy="4037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бизнес-объекты: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товара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084E9FA-9EC3-4AEF-A82E-95B234D75458}"/>
              </a:ext>
            </a:extLst>
          </p:cNvPr>
          <p:cNvSpPr/>
          <p:nvPr/>
        </p:nvSpPr>
        <p:spPr>
          <a:xfrm>
            <a:off x="7005452" y="1810987"/>
            <a:ext cx="4131623" cy="40376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Заказа по статусам: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Оплачен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обработке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Отправлен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Доставлен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Отменён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 случае отказа)</a:t>
            </a:r>
          </a:p>
        </p:txBody>
      </p:sp>
    </p:spTree>
    <p:extLst>
      <p:ext uri="{BB962C8B-B14F-4D97-AF65-F5344CB8AC3E}">
        <p14:creationId xmlns:p14="http://schemas.microsoft.com/office/powerpoint/2010/main" val="2109371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F7508-BBB9-4B98-BFE2-66BDFF7D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138" y="371064"/>
            <a:ext cx="10515600" cy="1325563"/>
          </a:xfrm>
        </p:spPr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Риски проекта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53AC765-2D98-47C7-9EA3-C95A3800AA10}"/>
              </a:ext>
            </a:extLst>
          </p:cNvPr>
          <p:cNvGraphicFramePr>
            <a:graphicFrameLocks noGrp="1"/>
          </p:cNvGraphicFramePr>
          <p:nvPr/>
        </p:nvGraphicFramePr>
        <p:xfrm>
          <a:off x="885701" y="1984391"/>
          <a:ext cx="7712034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78">
                  <a:extLst>
                    <a:ext uri="{9D8B030D-6E8A-4147-A177-3AD203B41FA5}">
                      <a16:colId xmlns:a16="http://schemas.microsoft.com/office/drawing/2014/main" val="1505684669"/>
                    </a:ext>
                  </a:extLst>
                </a:gridCol>
                <a:gridCol w="2570678">
                  <a:extLst>
                    <a:ext uri="{9D8B030D-6E8A-4147-A177-3AD203B41FA5}">
                      <a16:colId xmlns:a16="http://schemas.microsoft.com/office/drawing/2014/main" val="2136870572"/>
                    </a:ext>
                  </a:extLst>
                </a:gridCol>
                <a:gridCol w="2570678">
                  <a:extLst>
                    <a:ext uri="{9D8B030D-6E8A-4147-A177-3AD203B41FA5}">
                      <a16:colId xmlns:a16="http://schemas.microsoft.com/office/drawing/2014/main" val="3344451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Меры снижения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Срыв сроков разработки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Детальное планирование задач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364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 знаний 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PHP/MySQL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Самообучение и использование интернет источников</a:t>
                      </a:r>
                    </a:p>
                    <a:p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136234"/>
                  </a:ext>
                </a:extLst>
              </a:tr>
              <a:tr h="436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с безопасностью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различных способов защиты например 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Prepared Statements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08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 производительность сайта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запросов и кода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656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34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0DD88-E1FE-480D-8EC6-B53739F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BF40BD-95EE-4782-A5C5-CEC14053A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1639" y="1894828"/>
            <a:ext cx="64512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Адаптивность (корректная работа на мобильных устройствах)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Время загрузки страницы ≤ 3 секунд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современных браузеров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SQL-инъекций и XSS-атак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и интуитивно понятный интерфейс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масштабирования (добавление новых товаров)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Работоспособность 24/7 (при размещении на хостинге) </a:t>
            </a:r>
          </a:p>
        </p:txBody>
      </p:sp>
    </p:spTree>
    <p:extLst>
      <p:ext uri="{BB962C8B-B14F-4D97-AF65-F5344CB8AC3E}">
        <p14:creationId xmlns:p14="http://schemas.microsoft.com/office/powerpoint/2010/main" val="1822160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904872" y="31862"/>
            <a:ext cx="1700530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0474" y="693069"/>
            <a:ext cx="116525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анализа предметной области была выявлена необходимость разработки информационной системы интернет-магазина по продаже периферийного оборудования.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Реализованная система позволяет автоматизировать процессы управления товарами, заказами и пользователями, снизить количество ошибок и повысить удобство для покупателей.</a:t>
            </a:r>
          </a:p>
          <a:p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сайт на базе HTML, CSS,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способствует повышению эффективности работы магазина и улучшению уровня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24662499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884</Words>
  <Application>Microsoft Office PowerPoint</Application>
  <PresentationFormat>Широкоэкранный</PresentationFormat>
  <Paragraphs>154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Карта эмпатии Покупатель интернет-магазина периферийного оборудования</vt:lpstr>
      <vt:lpstr>Презентация PowerPoint</vt:lpstr>
      <vt:lpstr>Презентация PowerPoint</vt:lpstr>
      <vt:lpstr>Границы проекта</vt:lpstr>
      <vt:lpstr>Ограничения проекта</vt:lpstr>
      <vt:lpstr>Реестр Use cases</vt:lpstr>
      <vt:lpstr>Бизнес-объекты и их движение по статусам</vt:lpstr>
      <vt:lpstr>Риски проекта</vt:lpstr>
      <vt:lpstr>Нефункциональные требования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Фёдоров</dc:creator>
  <cp:lastModifiedBy>Константин Фёдоров</cp:lastModifiedBy>
  <cp:revision>2</cp:revision>
  <dcterms:created xsi:type="dcterms:W3CDTF">2026-04-04T17:28:52Z</dcterms:created>
  <dcterms:modified xsi:type="dcterms:W3CDTF">2026-04-07T07:30:08Z</dcterms:modified>
</cp:coreProperties>
</file>